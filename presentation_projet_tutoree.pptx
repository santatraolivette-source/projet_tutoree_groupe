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77B54C7-869F-4C13-AA27-85B82783D510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5D1827A-EC34-4828-8306-EBF6232A8EF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37EEAC-E63D-4317-82CE-D89AD6D10D2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743AB8-1748-44F9-925A-68BC34DBA75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3C38416-C130-4171-B1A3-13B6FC40214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D1D17A4-6339-4D3E-8173-858ED155E0B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36A3475-2A30-49BB-AB13-A8B5D01B44C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2FD7D34-B559-47FF-B24C-B6CCE8F2EDD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5C6B61-20DF-4E14-951B-C51C7584AB5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5052CB-D57F-4DE3-8C4B-10E7565D217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943600" y="-1097280"/>
            <a:ext cx="5028480" cy="502848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6583680" y="-457200"/>
            <a:ext cx="3839760" cy="383976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502920" y="914400"/>
            <a:ext cx="2010960" cy="29196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502920" y="914400"/>
            <a:ext cx="2010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1e2761"/>
                </a:solidFill>
                <a:latin typeface="Calibri"/>
              </a:rPr>
              <a:t>PROJET TUTOREE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457200" y="1417320"/>
            <a:ext cx="7771680" cy="164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  <a:ea typeface="Calibri"/>
              </a:rPr>
              <a:t>Système de Gestion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  <a:ea typeface="Calibri"/>
              </a:rPr>
              <a:t>Bibliothèque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502920" y="3154680"/>
            <a:ext cx="68572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cadcfc"/>
                </a:solidFill>
                <a:latin typeface="Calibri"/>
                <a:ea typeface="Calibri"/>
              </a:rPr>
              <a:t>Une solution numérique moderne pour optimiser les opérations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cadcfc"/>
                </a:solidFill>
                <a:latin typeface="Calibri"/>
                <a:ea typeface="Calibri"/>
              </a:rPr>
              <a:t>et améliorer l'expérience utilisateur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0" y="4526280"/>
            <a:ext cx="9143280" cy="61668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457200" y="4526280"/>
            <a:ext cx="8228880" cy="61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fc3f7"/>
                </a:solidFill>
                <a:latin typeface="Calibri"/>
              </a:rPr>
              <a:t> </a:t>
            </a:r>
            <a:r>
              <a:rPr b="0" lang="en-US" sz="1100" spc="-1" strike="noStrike">
                <a:solidFill>
                  <a:srgbClr val="cadcfc"/>
                </a:solidFill>
                <a:latin typeface="Calibri"/>
              </a:rPr>
              <a:t>Mai 2026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6172200" y="2514600"/>
            <a:ext cx="2514240" cy="228240"/>
          </a:xfrm>
          <a:prstGeom prst="rect">
            <a:avLst/>
          </a:prstGeom>
          <a:solidFill>
            <a:srgbClr val="355269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LibManager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" name="" descr=""/>
          <p:cNvPicPr/>
          <p:nvPr/>
        </p:nvPicPr>
        <p:blipFill>
          <a:blip r:embed="rId1"/>
          <a:stretch/>
        </p:blipFill>
        <p:spPr>
          <a:xfrm>
            <a:off x="6858000" y="1295640"/>
            <a:ext cx="990000" cy="99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0"/>
          <p:cNvSpPr/>
          <p:nvPr/>
        </p:nvSpPr>
        <p:spPr>
          <a:xfrm>
            <a:off x="0" y="0"/>
            <a:ext cx="9143280" cy="776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365760" y="0"/>
            <a:ext cx="822888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</a:rPr>
              <a:t>SOMMAIRE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Shape 2"/>
          <p:cNvSpPr/>
          <p:nvPr/>
        </p:nvSpPr>
        <p:spPr>
          <a:xfrm>
            <a:off x="365760" y="1005840"/>
            <a:ext cx="4114080" cy="913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365760" y="1005840"/>
            <a:ext cx="63360" cy="9136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75560" y="1005840"/>
            <a:ext cx="6393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4fc3f7"/>
                </a:solidFill>
                <a:latin typeface="Calibri"/>
              </a:rPr>
              <a:t>01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Text 5"/>
          <p:cNvSpPr/>
          <p:nvPr/>
        </p:nvSpPr>
        <p:spPr>
          <a:xfrm>
            <a:off x="1143000" y="1005840"/>
            <a:ext cx="31996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e2761"/>
                </a:solidFill>
                <a:latin typeface="Calibri"/>
              </a:rPr>
              <a:t>Contexte &amp; Problématique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365760" y="2194560"/>
            <a:ext cx="4114080" cy="913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Shape 7"/>
          <p:cNvSpPr/>
          <p:nvPr/>
        </p:nvSpPr>
        <p:spPr>
          <a:xfrm>
            <a:off x="365760" y="2194560"/>
            <a:ext cx="63360" cy="9136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475560" y="2194560"/>
            <a:ext cx="6393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22c55e"/>
                </a:solidFill>
                <a:latin typeface="Calibri"/>
              </a:rPr>
              <a:t>02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1179000" y="2194560"/>
            <a:ext cx="31996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e2761"/>
                </a:solidFill>
                <a:latin typeface="Calibri"/>
              </a:rPr>
              <a:t>Objectifs du Projet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365760" y="3383280"/>
            <a:ext cx="4114080" cy="913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365760" y="3383280"/>
            <a:ext cx="63360" cy="913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475560" y="3383280"/>
            <a:ext cx="6393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59e0b"/>
                </a:solidFill>
                <a:latin typeface="Calibri"/>
              </a:rPr>
              <a:t>03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143000" y="3383280"/>
            <a:ext cx="31996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e2761"/>
                </a:solidFill>
                <a:latin typeface="Calibri"/>
              </a:rPr>
              <a:t>Architecture Technique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Shape 14"/>
          <p:cNvSpPr/>
          <p:nvPr/>
        </p:nvSpPr>
        <p:spPr>
          <a:xfrm>
            <a:off x="4846320" y="1005840"/>
            <a:ext cx="4114080" cy="913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4846320" y="1005840"/>
            <a:ext cx="63360" cy="9136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 16"/>
          <p:cNvSpPr/>
          <p:nvPr/>
        </p:nvSpPr>
        <p:spPr>
          <a:xfrm>
            <a:off x="4956120" y="1005840"/>
            <a:ext cx="6393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f4444"/>
                </a:solidFill>
                <a:latin typeface="Calibri"/>
              </a:rPr>
              <a:t>04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5623560" y="1005840"/>
            <a:ext cx="31996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e2761"/>
                </a:solidFill>
                <a:latin typeface="Calibri"/>
              </a:rPr>
              <a:t>Demonstration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19"/>
          <p:cNvSpPr/>
          <p:nvPr/>
        </p:nvSpPr>
        <p:spPr>
          <a:xfrm>
            <a:off x="4846320" y="2194560"/>
            <a:ext cx="63360" cy="913680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20"/>
          <p:cNvSpPr/>
          <p:nvPr/>
        </p:nvSpPr>
        <p:spPr>
          <a:xfrm>
            <a:off x="4956120" y="2194560"/>
            <a:ext cx="6393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9333ea"/>
                </a:solidFill>
                <a:latin typeface="Calibri"/>
              </a:rPr>
              <a:t>05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 21"/>
          <p:cNvSpPr/>
          <p:nvPr/>
        </p:nvSpPr>
        <p:spPr>
          <a:xfrm>
            <a:off x="5623560" y="2194560"/>
            <a:ext cx="31996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e2761"/>
                </a:solidFill>
                <a:latin typeface="Calibri"/>
              </a:rPr>
              <a:t>Avantages et inconvénients 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Shape 22"/>
          <p:cNvSpPr/>
          <p:nvPr/>
        </p:nvSpPr>
        <p:spPr>
          <a:xfrm>
            <a:off x="4846320" y="3383280"/>
            <a:ext cx="4114080" cy="913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Shape 23"/>
          <p:cNvSpPr/>
          <p:nvPr/>
        </p:nvSpPr>
        <p:spPr>
          <a:xfrm>
            <a:off x="4846320" y="3383280"/>
            <a:ext cx="63360" cy="9136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Text 24"/>
          <p:cNvSpPr/>
          <p:nvPr/>
        </p:nvSpPr>
        <p:spPr>
          <a:xfrm>
            <a:off x="4956120" y="3383280"/>
            <a:ext cx="6393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e2761"/>
                </a:solidFill>
                <a:latin typeface="Calibri"/>
              </a:rPr>
              <a:t>06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25"/>
          <p:cNvSpPr/>
          <p:nvPr/>
        </p:nvSpPr>
        <p:spPr>
          <a:xfrm>
            <a:off x="5623560" y="3383280"/>
            <a:ext cx="31996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e2761"/>
                </a:solidFill>
                <a:latin typeface="Calibri"/>
              </a:rPr>
              <a:t>Conclusion &amp; Prochaines Étapes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0"/>
            <a:ext cx="9143280" cy="776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1"/>
          <p:cNvSpPr/>
          <p:nvPr/>
        </p:nvSpPr>
        <p:spPr>
          <a:xfrm>
            <a:off x="365760" y="0"/>
            <a:ext cx="822888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01  |  Contexte &amp; Problématique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3"/>
          <p:cNvSpPr/>
          <p:nvPr/>
        </p:nvSpPr>
        <p:spPr>
          <a:xfrm>
            <a:off x="274320" y="914400"/>
            <a:ext cx="41140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fc3f7"/>
                </a:solidFill>
                <a:latin typeface="Calibri"/>
              </a:rPr>
              <a:t>CONTEXTE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 4"/>
          <p:cNvSpPr/>
          <p:nvPr/>
        </p:nvSpPr>
        <p:spPr>
          <a:xfrm>
            <a:off x="483480" y="1417320"/>
            <a:ext cx="3839760" cy="30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374151"/>
                </a:solidFill>
                <a:latin typeface="Calibri"/>
                <a:ea typeface="Noto Sans CJK SC"/>
              </a:rPr>
              <a:t>Dans le cadre de la modernisation des bibliothèques, la gestion manuelle des livres et des emprunts devient de plus en plus difficile.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374151"/>
                </a:solidFill>
                <a:latin typeface="Calibri"/>
                <a:ea typeface="Noto Sans CJK SC"/>
              </a:rPr>
              <a:t>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2286000" y="2286000"/>
            <a:ext cx="4114440" cy="914040"/>
          </a:xfrm>
          <a:prstGeom prst="rect">
            <a:avLst/>
          </a:prstGeom>
          <a:solidFill>
            <a:srgbClr val="102c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Quelle problème l’appication résout-elle 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2286000" y="3429000"/>
            <a:ext cx="4114440" cy="914040"/>
          </a:xfrm>
          <a:prstGeom prst="rect">
            <a:avLst/>
          </a:prstGeom>
          <a:solidFill>
            <a:srgbClr val="102c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Pourquoi ce projet 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0"/>
          <p:cNvSpPr/>
          <p:nvPr/>
        </p:nvSpPr>
        <p:spPr>
          <a:xfrm>
            <a:off x="0" y="0"/>
            <a:ext cx="9143280" cy="776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1"/>
          <p:cNvSpPr/>
          <p:nvPr/>
        </p:nvSpPr>
        <p:spPr>
          <a:xfrm>
            <a:off x="365760" y="0"/>
            <a:ext cx="822888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02  |  Objectifs du Projet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Shape 2"/>
          <p:cNvSpPr/>
          <p:nvPr/>
        </p:nvSpPr>
        <p:spPr>
          <a:xfrm>
            <a:off x="274320" y="960120"/>
            <a:ext cx="4159800" cy="1736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633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Shape 3"/>
          <p:cNvSpPr/>
          <p:nvPr/>
        </p:nvSpPr>
        <p:spPr>
          <a:xfrm>
            <a:off x="274320" y="960120"/>
            <a:ext cx="4159800" cy="6336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4"/>
          <p:cNvSpPr/>
          <p:nvPr/>
        </p:nvSpPr>
        <p:spPr>
          <a:xfrm>
            <a:off x="457200" y="1188720"/>
            <a:ext cx="593640" cy="593640"/>
          </a:xfrm>
          <a:prstGeom prst="ellipse">
            <a:avLst/>
          </a:prstGeom>
          <a:solidFill>
            <a:srgbClr val="4fc3f7">
              <a:alpha val="15000"/>
            </a:srgbClr>
          </a:solidFill>
          <a:ln w="12700">
            <a:solidFill>
              <a:srgbClr val="4fc3f7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5"/>
          <p:cNvSpPr/>
          <p:nvPr/>
        </p:nvSpPr>
        <p:spPr>
          <a:xfrm>
            <a:off x="457200" y="1188720"/>
            <a:ext cx="593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🗄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6"/>
          <p:cNvSpPr/>
          <p:nvPr/>
        </p:nvSpPr>
        <p:spPr>
          <a:xfrm>
            <a:off x="1170360" y="1097280"/>
            <a:ext cx="3108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4fc3f7"/>
                </a:solidFill>
                <a:latin typeface="Calibri"/>
              </a:rPr>
              <a:t>Objectif 1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7"/>
          <p:cNvSpPr/>
          <p:nvPr/>
        </p:nvSpPr>
        <p:spPr>
          <a:xfrm>
            <a:off x="1170360" y="1371600"/>
            <a:ext cx="3108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e2761"/>
                </a:solidFill>
                <a:latin typeface="Calibri"/>
              </a:rPr>
              <a:t>Moérnisation , numérisation et centralisation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8"/>
          <p:cNvSpPr/>
          <p:nvPr/>
        </p:nvSpPr>
        <p:spPr>
          <a:xfrm>
            <a:off x="457200" y="1965960"/>
            <a:ext cx="37483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</a:rPr>
              <a:t>Créer une base de données unique et fiable, accessible à tous les services en temps réel, modérniser et numériser les activités au sein de la bibliothèque.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9"/>
          <p:cNvSpPr/>
          <p:nvPr/>
        </p:nvSpPr>
        <p:spPr>
          <a:xfrm>
            <a:off x="4754880" y="960120"/>
            <a:ext cx="4159800" cy="1736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633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10"/>
          <p:cNvSpPr/>
          <p:nvPr/>
        </p:nvSpPr>
        <p:spPr>
          <a:xfrm>
            <a:off x="4754880" y="960120"/>
            <a:ext cx="4159800" cy="633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Shape 11"/>
          <p:cNvSpPr/>
          <p:nvPr/>
        </p:nvSpPr>
        <p:spPr>
          <a:xfrm>
            <a:off x="4937760" y="1188720"/>
            <a:ext cx="593640" cy="593640"/>
          </a:xfrm>
          <a:prstGeom prst="ellipse">
            <a:avLst/>
          </a:prstGeom>
          <a:solidFill>
            <a:srgbClr val="22c55e">
              <a:alpha val="15000"/>
            </a:srgbClr>
          </a:solidFill>
          <a:ln w="12700">
            <a:solidFill>
              <a:srgbClr val="22c55e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12"/>
          <p:cNvSpPr/>
          <p:nvPr/>
        </p:nvSpPr>
        <p:spPr>
          <a:xfrm>
            <a:off x="4937760" y="1188720"/>
            <a:ext cx="593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⚙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13"/>
          <p:cNvSpPr/>
          <p:nvPr/>
        </p:nvSpPr>
        <p:spPr>
          <a:xfrm>
            <a:off x="5650920" y="1097280"/>
            <a:ext cx="3108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22c55e"/>
                </a:solidFill>
                <a:latin typeface="Calibri"/>
              </a:rPr>
              <a:t>Objectif 2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 14"/>
          <p:cNvSpPr/>
          <p:nvPr/>
        </p:nvSpPr>
        <p:spPr>
          <a:xfrm>
            <a:off x="5650920" y="1371600"/>
            <a:ext cx="3108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e2761"/>
                </a:solidFill>
                <a:latin typeface="Calibri"/>
              </a:rPr>
              <a:t>Automatiser les processus / Faciliter le travail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15"/>
          <p:cNvSpPr/>
          <p:nvPr/>
        </p:nvSpPr>
        <p:spPr>
          <a:xfrm>
            <a:off x="4937760" y="1965960"/>
            <a:ext cx="37483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</a:rPr>
              <a:t>Réduire les tâches manuelles répétitives , envoie d’un email de rappel et notification automatisé.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6"/>
          <p:cNvSpPr/>
          <p:nvPr/>
        </p:nvSpPr>
        <p:spPr>
          <a:xfrm>
            <a:off x="274320" y="2926080"/>
            <a:ext cx="4159800" cy="1736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633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7"/>
          <p:cNvSpPr/>
          <p:nvPr/>
        </p:nvSpPr>
        <p:spPr>
          <a:xfrm>
            <a:off x="274320" y="2926080"/>
            <a:ext cx="4159800" cy="63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8"/>
          <p:cNvSpPr/>
          <p:nvPr/>
        </p:nvSpPr>
        <p:spPr>
          <a:xfrm>
            <a:off x="457200" y="3154680"/>
            <a:ext cx="593640" cy="593640"/>
          </a:xfrm>
          <a:prstGeom prst="ellipse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19"/>
          <p:cNvSpPr/>
          <p:nvPr/>
        </p:nvSpPr>
        <p:spPr>
          <a:xfrm>
            <a:off x="457200" y="3154680"/>
            <a:ext cx="593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📈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20"/>
          <p:cNvSpPr/>
          <p:nvPr/>
        </p:nvSpPr>
        <p:spPr>
          <a:xfrm>
            <a:off x="1170360" y="3063240"/>
            <a:ext cx="3108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59e0b"/>
                </a:solidFill>
                <a:latin typeface="Calibri"/>
              </a:rPr>
              <a:t>Objectif 3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21"/>
          <p:cNvSpPr/>
          <p:nvPr/>
        </p:nvSpPr>
        <p:spPr>
          <a:xfrm>
            <a:off x="1170360" y="3337560"/>
            <a:ext cx="3108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e2761"/>
                </a:solidFill>
                <a:latin typeface="Calibri"/>
              </a:rPr>
              <a:t>Eviter les pertes d’informations / erreurs de gestion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22"/>
          <p:cNvSpPr/>
          <p:nvPr/>
        </p:nvSpPr>
        <p:spPr>
          <a:xfrm>
            <a:off x="457200" y="3931920"/>
            <a:ext cx="37483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</a:rPr>
              <a:t>Grâçe à une base de données centraliser toutes les informations sont enregistrés et bien protégés.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23"/>
          <p:cNvSpPr/>
          <p:nvPr/>
        </p:nvSpPr>
        <p:spPr>
          <a:xfrm>
            <a:off x="4754880" y="2926080"/>
            <a:ext cx="4159800" cy="1736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633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24"/>
          <p:cNvSpPr/>
          <p:nvPr/>
        </p:nvSpPr>
        <p:spPr>
          <a:xfrm>
            <a:off x="4754880" y="2926080"/>
            <a:ext cx="4159800" cy="63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Shape 25"/>
          <p:cNvSpPr/>
          <p:nvPr/>
        </p:nvSpPr>
        <p:spPr>
          <a:xfrm>
            <a:off x="4937760" y="3154680"/>
            <a:ext cx="593640" cy="593640"/>
          </a:xfrm>
          <a:prstGeom prst="ellipse">
            <a:avLst/>
          </a:prstGeom>
          <a:solidFill>
            <a:srgbClr val="ef4444">
              <a:alpha val="15000"/>
            </a:srgbClr>
          </a:solidFill>
          <a:ln w="12700">
            <a:solidFill>
              <a:srgbClr val="ef4444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 26"/>
          <p:cNvSpPr/>
          <p:nvPr/>
        </p:nvSpPr>
        <p:spPr>
          <a:xfrm>
            <a:off x="4937760" y="3154680"/>
            <a:ext cx="593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libri"/>
              </a:rPr>
              <a:t>🔒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27"/>
          <p:cNvSpPr/>
          <p:nvPr/>
        </p:nvSpPr>
        <p:spPr>
          <a:xfrm>
            <a:off x="5650920" y="3063240"/>
            <a:ext cx="3108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ef4444"/>
                </a:solidFill>
                <a:latin typeface="Calibri"/>
              </a:rPr>
              <a:t>Objectif 4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28"/>
          <p:cNvSpPr/>
          <p:nvPr/>
        </p:nvSpPr>
        <p:spPr>
          <a:xfrm>
            <a:off x="5650920" y="3337560"/>
            <a:ext cx="3108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e2761"/>
                </a:solidFill>
                <a:latin typeface="Calibri"/>
              </a:rPr>
              <a:t>Sécuriser les accès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29"/>
          <p:cNvSpPr/>
          <p:nvPr/>
        </p:nvSpPr>
        <p:spPr>
          <a:xfrm>
            <a:off x="4937760" y="3931920"/>
            <a:ext cx="37483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0"/>
          <p:cNvSpPr/>
          <p:nvPr/>
        </p:nvSpPr>
        <p:spPr>
          <a:xfrm>
            <a:off x="0" y="0"/>
            <a:ext cx="9143280" cy="776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 1"/>
          <p:cNvSpPr/>
          <p:nvPr/>
        </p:nvSpPr>
        <p:spPr>
          <a:xfrm>
            <a:off x="365760" y="0"/>
            <a:ext cx="822888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03  |  Architecture Technique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"/>
          <p:cNvSpPr/>
          <p:nvPr/>
        </p:nvSpPr>
        <p:spPr>
          <a:xfrm>
            <a:off x="320040" y="960120"/>
            <a:ext cx="8503200" cy="685080"/>
          </a:xfrm>
          <a:prstGeom prst="rect">
            <a:avLst/>
          </a:prstGeom>
          <a:solidFill>
            <a:srgbClr val="4fc3f7">
              <a:alpha val="10000"/>
            </a:srgbClr>
          </a:solidFill>
          <a:ln w="12700">
            <a:solidFill>
              <a:srgbClr val="4fc3f7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3"/>
          <p:cNvSpPr/>
          <p:nvPr/>
        </p:nvSpPr>
        <p:spPr>
          <a:xfrm>
            <a:off x="320040" y="960120"/>
            <a:ext cx="54000" cy="6850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4"/>
          <p:cNvSpPr/>
          <p:nvPr/>
        </p:nvSpPr>
        <p:spPr>
          <a:xfrm>
            <a:off x="502920" y="960120"/>
            <a:ext cx="20109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fc3f7"/>
                </a:solidFill>
                <a:latin typeface="Calibri"/>
              </a:rPr>
              <a:t>FRONTEND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5"/>
          <p:cNvSpPr/>
          <p:nvPr/>
        </p:nvSpPr>
        <p:spPr>
          <a:xfrm>
            <a:off x="2560320" y="960120"/>
            <a:ext cx="61257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761"/>
                </a:solidFill>
                <a:latin typeface="Calibri"/>
              </a:rPr>
              <a:t>HTML/CSS  •  JavaScript  •  Bootstrap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6"/>
          <p:cNvSpPr/>
          <p:nvPr/>
        </p:nvSpPr>
        <p:spPr>
          <a:xfrm>
            <a:off x="320040" y="1783080"/>
            <a:ext cx="8503200" cy="685080"/>
          </a:xfrm>
          <a:prstGeom prst="rect">
            <a:avLst/>
          </a:prstGeom>
          <a:solidFill>
            <a:srgbClr val="22c55e">
              <a:alpha val="10000"/>
            </a:srgbClr>
          </a:solidFill>
          <a:ln w="12700">
            <a:solidFill>
              <a:srgbClr val="22c55e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Shape 7"/>
          <p:cNvSpPr/>
          <p:nvPr/>
        </p:nvSpPr>
        <p:spPr>
          <a:xfrm>
            <a:off x="320040" y="1783080"/>
            <a:ext cx="54000" cy="6850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8"/>
          <p:cNvSpPr/>
          <p:nvPr/>
        </p:nvSpPr>
        <p:spPr>
          <a:xfrm>
            <a:off x="502920" y="1783080"/>
            <a:ext cx="20109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22c55e"/>
                </a:solidFill>
                <a:latin typeface="Calibri"/>
              </a:rPr>
              <a:t>BACKEND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9"/>
          <p:cNvSpPr/>
          <p:nvPr/>
        </p:nvSpPr>
        <p:spPr>
          <a:xfrm>
            <a:off x="2560320" y="1783080"/>
            <a:ext cx="61257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761"/>
                </a:solidFill>
                <a:latin typeface="Calibri"/>
              </a:rPr>
              <a:t>Django   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10"/>
          <p:cNvSpPr/>
          <p:nvPr/>
        </p:nvSpPr>
        <p:spPr>
          <a:xfrm>
            <a:off x="320040" y="2606040"/>
            <a:ext cx="8503200" cy="685080"/>
          </a:xfrm>
          <a:prstGeom prst="rect">
            <a:avLst/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11"/>
          <p:cNvSpPr/>
          <p:nvPr/>
        </p:nvSpPr>
        <p:spPr>
          <a:xfrm>
            <a:off x="320040" y="2606040"/>
            <a:ext cx="54000" cy="685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12"/>
          <p:cNvSpPr/>
          <p:nvPr/>
        </p:nvSpPr>
        <p:spPr>
          <a:xfrm>
            <a:off x="502920" y="2606040"/>
            <a:ext cx="20109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59e0b"/>
                </a:solidFill>
                <a:latin typeface="Calibri"/>
              </a:rPr>
              <a:t>BASE DE DONNÉES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13"/>
          <p:cNvSpPr/>
          <p:nvPr/>
        </p:nvSpPr>
        <p:spPr>
          <a:xfrm>
            <a:off x="2560320" y="2606040"/>
            <a:ext cx="61257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761"/>
                </a:solidFill>
                <a:latin typeface="Calibri"/>
              </a:rPr>
              <a:t>SQLite3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14"/>
          <p:cNvSpPr/>
          <p:nvPr/>
        </p:nvSpPr>
        <p:spPr>
          <a:xfrm>
            <a:off x="320040" y="3429000"/>
            <a:ext cx="8503200" cy="685080"/>
          </a:xfrm>
          <a:prstGeom prst="rect">
            <a:avLst/>
          </a:prstGeom>
          <a:solidFill>
            <a:srgbClr val="9333ea">
              <a:alpha val="10000"/>
            </a:srgbClr>
          </a:solidFill>
          <a:ln w="12700">
            <a:solidFill>
              <a:srgbClr val="9333ea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Shape 15"/>
          <p:cNvSpPr/>
          <p:nvPr/>
        </p:nvSpPr>
        <p:spPr>
          <a:xfrm>
            <a:off x="320040" y="3429000"/>
            <a:ext cx="54000" cy="685080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16"/>
          <p:cNvSpPr/>
          <p:nvPr/>
        </p:nvSpPr>
        <p:spPr>
          <a:xfrm>
            <a:off x="502920" y="3429000"/>
            <a:ext cx="20109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9333ea"/>
                </a:solidFill>
                <a:latin typeface="Calibri"/>
              </a:rPr>
              <a:t>Modèle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17"/>
          <p:cNvSpPr/>
          <p:nvPr/>
        </p:nvSpPr>
        <p:spPr>
          <a:xfrm>
            <a:off x="2560320" y="3429000"/>
            <a:ext cx="61257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e2761"/>
                </a:solidFill>
                <a:latin typeface="Calibri"/>
              </a:rPr>
              <a:t>Modèle &lt;-----→ View &lt;----&gt;Template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19"/>
          <p:cNvSpPr/>
          <p:nvPr/>
        </p:nvSpPr>
        <p:spPr>
          <a:xfrm>
            <a:off x="777240" y="4343400"/>
            <a:ext cx="24681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21"/>
          <p:cNvSpPr/>
          <p:nvPr/>
        </p:nvSpPr>
        <p:spPr>
          <a:xfrm>
            <a:off x="3611880" y="4343400"/>
            <a:ext cx="24681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23"/>
          <p:cNvSpPr/>
          <p:nvPr/>
        </p:nvSpPr>
        <p:spPr>
          <a:xfrm>
            <a:off x="6446520" y="4343400"/>
            <a:ext cx="24681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0"/>
          <p:cNvSpPr/>
          <p:nvPr/>
        </p:nvSpPr>
        <p:spPr>
          <a:xfrm>
            <a:off x="0" y="0"/>
            <a:ext cx="9143280" cy="685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365760" y="0"/>
            <a:ext cx="822888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04  |  Les utilisateurs et fontionnalités clés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3"/>
          <p:cNvSpPr/>
          <p:nvPr/>
        </p:nvSpPr>
        <p:spPr>
          <a:xfrm>
            <a:off x="274320" y="914400"/>
            <a:ext cx="27424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Phase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22"/>
          <p:cNvSpPr/>
          <p:nvPr/>
        </p:nvSpPr>
        <p:spPr>
          <a:xfrm>
            <a:off x="4343400" y="2350080"/>
            <a:ext cx="22395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</a:rPr>
              <a:t>10 sem.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27"/>
          <p:cNvSpPr/>
          <p:nvPr/>
        </p:nvSpPr>
        <p:spPr>
          <a:xfrm>
            <a:off x="6583680" y="3191400"/>
            <a:ext cx="12794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</a:rPr>
              <a:t>4 sem.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32"/>
          <p:cNvSpPr/>
          <p:nvPr/>
        </p:nvSpPr>
        <p:spPr>
          <a:xfrm>
            <a:off x="7863840" y="4032360"/>
            <a:ext cx="9594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</a:rPr>
              <a:t>2 sem.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914400" y="776880"/>
            <a:ext cx="6629040" cy="228240"/>
          </a:xfrm>
          <a:prstGeom prst="rect">
            <a:avLst/>
          </a:prstGeom>
          <a:solidFill>
            <a:srgbClr val="102c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Qui peut utiliser cette application 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228600" y="1032840"/>
            <a:ext cx="8457840" cy="10242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Administrateur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Bibliothècaire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Adhérent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866520" y="2238120"/>
            <a:ext cx="7314840" cy="228240"/>
          </a:xfrm>
          <a:prstGeom prst="rect">
            <a:avLst/>
          </a:prstGeom>
          <a:solidFill>
            <a:srgbClr val="102c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Les fonctionnalités clés :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457200" y="2514600"/>
            <a:ext cx="8457840" cy="228564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algn="ctr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Ajout, modifications, suppresion du livre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Recherche rapide des livres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Gestion des emprunts et retour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Notification / Rappel automatique par email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Tableau de bord dynamique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Assistant virtuel intégré pour l’adhérent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Centre d’aide pour l’adhérent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Accès sécurisé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Shape 5"/>
          <p:cNvSpPr/>
          <p:nvPr/>
        </p:nvSpPr>
        <p:spPr>
          <a:xfrm>
            <a:off x="0" y="0"/>
            <a:ext cx="9143280" cy="776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Text 2"/>
          <p:cNvSpPr/>
          <p:nvPr/>
        </p:nvSpPr>
        <p:spPr>
          <a:xfrm>
            <a:off x="365760" y="0"/>
            <a:ext cx="822888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03  |  Point fort et point faibles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37"/>
          <p:cNvSpPr/>
          <p:nvPr/>
        </p:nvSpPr>
        <p:spPr>
          <a:xfrm>
            <a:off x="777240" y="4343400"/>
            <a:ext cx="24681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38"/>
          <p:cNvSpPr/>
          <p:nvPr/>
        </p:nvSpPr>
        <p:spPr>
          <a:xfrm>
            <a:off x="3611880" y="4343400"/>
            <a:ext cx="24681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39"/>
          <p:cNvSpPr/>
          <p:nvPr/>
        </p:nvSpPr>
        <p:spPr>
          <a:xfrm>
            <a:off x="6446520" y="4343400"/>
            <a:ext cx="24681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228600" y="914400"/>
            <a:ext cx="8457840" cy="1828440"/>
          </a:xfrm>
          <a:prstGeom prst="rect">
            <a:avLst/>
          </a:prstGeom>
          <a:solidFill>
            <a:srgbClr val="102c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Gestion rapide et fiable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Centralisation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Suivi en temps réel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Evolutif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228600" y="2971800"/>
            <a:ext cx="8457840" cy="1371240"/>
          </a:xfrm>
          <a:prstGeom prst="rect">
            <a:avLst/>
          </a:prstGeom>
          <a:solidFill>
            <a:srgbClr val="102c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Dépendance technique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Prise en main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12"/>
          <p:cNvSpPr/>
          <p:nvPr/>
        </p:nvSpPr>
        <p:spPr>
          <a:xfrm>
            <a:off x="0" y="0"/>
            <a:ext cx="9143280" cy="776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Text 11"/>
          <p:cNvSpPr/>
          <p:nvPr/>
        </p:nvSpPr>
        <p:spPr>
          <a:xfrm>
            <a:off x="365760" y="0"/>
            <a:ext cx="822888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06  |  Prochaîne étapes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18"/>
          <p:cNvSpPr/>
          <p:nvPr/>
        </p:nvSpPr>
        <p:spPr>
          <a:xfrm>
            <a:off x="777240" y="4343400"/>
            <a:ext cx="24681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30"/>
          <p:cNvSpPr/>
          <p:nvPr/>
        </p:nvSpPr>
        <p:spPr>
          <a:xfrm>
            <a:off x="3611880" y="4343400"/>
            <a:ext cx="24681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31"/>
          <p:cNvSpPr/>
          <p:nvPr/>
        </p:nvSpPr>
        <p:spPr>
          <a:xfrm>
            <a:off x="6446520" y="4343400"/>
            <a:ext cx="24681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228600" y="914400"/>
            <a:ext cx="8457840" cy="1828440"/>
          </a:xfrm>
          <a:prstGeom prst="rect">
            <a:avLst/>
          </a:prstGeom>
          <a:solidFill>
            <a:srgbClr val="102c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Vision court terme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Améliorer l’interface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Ajout autres fonctionnalités (favoris, suivi des retards, …)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Offrir aux utilisateurs le contrôle total de leur compte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228600" y="2971800"/>
            <a:ext cx="8457840" cy="1828440"/>
          </a:xfrm>
          <a:prstGeom prst="rect">
            <a:avLst/>
          </a:prstGeom>
          <a:solidFill>
            <a:srgbClr val="102c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Vision long terme: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Proposer des livres similaires quand un adhérent rend un livre qu'il a aimé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Recompenser les lecteurs qui a lu le plus  de livre à la fin de l'année scolaire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Recueillir les avis et suggestions des adhérents pour faire évoluer l'application selon leurs besoins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0"/>
          <p:cNvSpPr/>
          <p:nvPr/>
        </p:nvSpPr>
        <p:spPr>
          <a:xfrm>
            <a:off x="-914400" y="-914400"/>
            <a:ext cx="5485680" cy="5485680"/>
          </a:xfrm>
          <a:prstGeom prst="ellipse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7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1"/>
          <p:cNvSpPr/>
          <p:nvPr/>
        </p:nvSpPr>
        <p:spPr>
          <a:xfrm>
            <a:off x="5486400" y="1828800"/>
            <a:ext cx="4571280" cy="457128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2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 3"/>
          <p:cNvSpPr/>
          <p:nvPr/>
        </p:nvSpPr>
        <p:spPr>
          <a:xfrm>
            <a:off x="457200" y="822960"/>
            <a:ext cx="45712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fc3f7"/>
                </a:solidFill>
                <a:latin typeface="Calibri"/>
              </a:rPr>
              <a:t>CONCLUSION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 4"/>
          <p:cNvSpPr/>
          <p:nvPr/>
        </p:nvSpPr>
        <p:spPr>
          <a:xfrm>
            <a:off x="457200" y="1188720"/>
            <a:ext cx="5942880" cy="164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Calibri"/>
                <a:ea typeface="Calibri"/>
              </a:rPr>
              <a:t>Ce projet représente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Calibri"/>
                <a:ea typeface="Calibri"/>
              </a:rPr>
              <a:t>une transformation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Calibri"/>
                <a:ea typeface="Calibri"/>
              </a:rPr>
              <a:t>stratégique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5"/>
          <p:cNvSpPr/>
          <p:nvPr/>
        </p:nvSpPr>
        <p:spPr>
          <a:xfrm>
            <a:off x="457200" y="2926080"/>
            <a:ext cx="64000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adcfc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cadcfc"/>
                </a:solidFill>
                <a:latin typeface="Calibri"/>
              </a:rPr>
              <a:t>Solution scalable et sécurisée adaptée à la croissance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6"/>
          <p:cNvSpPr/>
          <p:nvPr/>
        </p:nvSpPr>
        <p:spPr>
          <a:xfrm>
            <a:off x="457200" y="3291840"/>
            <a:ext cx="64000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adcfc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cadcfc"/>
                </a:solidFill>
                <a:latin typeface="Calibri"/>
              </a:rPr>
              <a:t>Facilite la tâche des bibliothécaire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 7"/>
          <p:cNvSpPr/>
          <p:nvPr/>
        </p:nvSpPr>
        <p:spPr>
          <a:xfrm>
            <a:off x="457200" y="3657600"/>
            <a:ext cx="64000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cadcfc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cadcfc"/>
                </a:solidFill>
                <a:latin typeface="Calibri"/>
              </a:rPr>
              <a:t>Rendre la consulation des livres faciles via la réservation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Shape 8"/>
          <p:cNvSpPr/>
          <p:nvPr/>
        </p:nvSpPr>
        <p:spPr>
          <a:xfrm>
            <a:off x="457200" y="4160520"/>
            <a:ext cx="2925360" cy="6210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9"/>
          <p:cNvSpPr/>
          <p:nvPr/>
        </p:nvSpPr>
        <p:spPr>
          <a:xfrm>
            <a:off x="457200" y="4160520"/>
            <a:ext cx="292536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e2761"/>
                </a:solidFill>
                <a:latin typeface="Calibri"/>
              </a:rPr>
              <a:t>Questions &amp; Discussion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2026-05-16T13:32:20Z</dcterms:created>
  <dc:creator>PptxGenJS</dc:creator>
  <dc:description/>
  <dc:language>en-US</dc:language>
  <cp:lastModifiedBy/>
  <dcterms:modified xsi:type="dcterms:W3CDTF">2026-05-19T11:53:03Z</dcterms:modified>
  <cp:revision>9</cp:revision>
  <dc:subject>PptxGenJS Presentation</dc:subject>
  <dc:title>Présentation Projet Informatique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On-screen Show (16:9)</vt:lpwstr>
  </property>
  <property fmtid="{D5CDD505-2E9C-101B-9397-08002B2CF9AE}" pid="4" name="Slides">
    <vt:i4>8</vt:i4>
  </property>
</Properties>
</file>