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BC2EA3-5C6B-4ED1-A2FF-D966761A087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Salama eh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280BC1-81CC-441B-B993-7D35A3CE2D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2BB707-F845-4779-9D06-D113968998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dsdsdsdsdsdsdsdrgrgfgfgfg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0B52F5-C6DF-41DA-8D7B-2651B1A350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E57D4D-7868-4F9F-ADB1-026FD84EF6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2E7CED-2621-4E34-AEA7-4039C7D886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52661F-C2D8-4CB6-A6B4-8A29E9C730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57ED97-2B44-4FAF-B32A-1F8B5846EE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2678D1-B974-4EDD-B26D-F13A007097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dfdfdfffffffffffffffffffffffffffffffffffffffffffffffffffffffffffffffffffffffffffffffffffffffffffffffffffffffffffffffffffffffffffffffffffffffffffffffffffffffffffffffffffffffffffffffffffffffffffffffffffffffff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5ADE30-0D14-4EAC-88AB-7AE5DEBCAE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5943600" y="-1097280"/>
            <a:ext cx="5027760" cy="5027760"/>
          </a:xfrm>
          <a:prstGeom prst="ellipse">
            <a:avLst/>
          </a:prstGeom>
          <a:solidFill>
            <a:srgbClr val="ffffff">
              <a:alpha val="8000"/>
            </a:srgbClr>
          </a:solidFill>
          <a:ln w="126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6583680" y="-457200"/>
            <a:ext cx="3839040" cy="38390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6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02920" y="914400"/>
            <a:ext cx="2010240" cy="29124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02920" y="91440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DejaVu Sans"/>
              </a:rPr>
              <a:t>PROJET TUTOREE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57200" y="1417320"/>
            <a:ext cx="77709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Système de Gestion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Bibliothèque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02920" y="3154680"/>
            <a:ext cx="6856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Une solution numérique moderne pour optimiser les opérations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et améliorer l'expérience utilisateur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0" y="4526280"/>
            <a:ext cx="9142560" cy="615960"/>
          </a:xfrm>
          <a:prstGeom prst="rect">
            <a:avLst/>
          </a:prstGeom>
          <a:solidFill>
            <a:srgbClr val="0d1b4b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57200" y="4526280"/>
            <a:ext cx="822816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DejaVu Sans"/>
              </a:rPr>
              <a:t>Mai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172200" y="2514600"/>
            <a:ext cx="2513520" cy="22752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LibManager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6858000" y="1295640"/>
            <a:ext cx="989280" cy="98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SOMMAIRE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365760" y="1005840"/>
            <a:ext cx="4113360" cy="91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365760" y="1005840"/>
            <a:ext cx="62640" cy="91296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Text 4"/>
          <p:cNvSpPr/>
          <p:nvPr/>
        </p:nvSpPr>
        <p:spPr>
          <a:xfrm>
            <a:off x="475560" y="100584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fc3f7"/>
                </a:solidFill>
                <a:latin typeface="Calibri"/>
                <a:ea typeface="DejaVu Sans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143000" y="100584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Contexte &amp; Problématique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65760" y="2194560"/>
            <a:ext cx="4113360" cy="91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365760" y="2194560"/>
            <a:ext cx="62640" cy="91296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75560" y="219456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2c55e"/>
                </a:solidFill>
                <a:latin typeface="Calibri"/>
                <a:ea typeface="DejaVu Sans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179000" y="219456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Objectifs du Projet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365760" y="3383280"/>
            <a:ext cx="4113360" cy="91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365760" y="3383280"/>
            <a:ext cx="62640" cy="9129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475560" y="338328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Calibri"/>
                <a:ea typeface="DejaVu Sans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143000" y="338328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Architecture Technique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846320" y="1005840"/>
            <a:ext cx="4113360" cy="91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846320" y="1005840"/>
            <a:ext cx="62640" cy="912960"/>
          </a:xfrm>
          <a:prstGeom prst="rect">
            <a:avLst/>
          </a:prstGeom>
          <a:solidFill>
            <a:srgbClr val="ef4444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4956120" y="100584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f4444"/>
                </a:solidFill>
                <a:latin typeface="Calibri"/>
                <a:ea typeface="DejaVu Sans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5623560" y="100584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Démonstrations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4846320" y="2194560"/>
            <a:ext cx="62640" cy="912960"/>
          </a:xfrm>
          <a:prstGeom prst="rect">
            <a:avLst/>
          </a:prstGeom>
          <a:solidFill>
            <a:srgbClr val="9333ea"/>
          </a:solidFill>
          <a:ln w="12600">
            <a:solidFill>
              <a:srgbClr val="933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4956120" y="219456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9333ea"/>
                </a:solidFill>
                <a:latin typeface="Calibri"/>
                <a:ea typeface="DejaVu Sans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5623560" y="219456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Point fort et point faible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4846320" y="3383280"/>
            <a:ext cx="4113360" cy="912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4846320" y="3383280"/>
            <a:ext cx="62640" cy="91296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4956120" y="3383280"/>
            <a:ext cx="638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DejaVu Sans"/>
              </a:rPr>
              <a:t>06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5623560" y="3383280"/>
            <a:ext cx="3198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Conclusion &amp; Prochaines Étapes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  |  Contexte &amp; Problématique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274320" y="914400"/>
            <a:ext cx="41133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CONTEXTE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483480" y="1417320"/>
            <a:ext cx="383904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Noto Sans CJK SC"/>
              </a:rPr>
              <a:t>Dans le cadre de la modernisation des bibliothèques, la gestion manuelle des livres et des emprunts devient de plus en plus difficile.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Noto Sans CJK SC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286000" y="2286000"/>
            <a:ext cx="4113720" cy="9133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Quelle problème l’appication résout-elle 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286000" y="3429000"/>
            <a:ext cx="4113720" cy="9133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Pourquoi ce projet 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  |  Objectifs du Projet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274320" y="960120"/>
            <a:ext cx="4159080" cy="1735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274320" y="960120"/>
            <a:ext cx="4159080" cy="6264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457200" y="1188720"/>
            <a:ext cx="592920" cy="592920"/>
          </a:xfrm>
          <a:prstGeom prst="ellipse">
            <a:avLst/>
          </a:prstGeom>
          <a:solidFill>
            <a:srgbClr val="4fc3f7">
              <a:alpha val="15000"/>
            </a:srgbClr>
          </a:solidFill>
          <a:ln w="12600">
            <a:solidFill>
              <a:srgbClr val="4fc3f7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1188720"/>
            <a:ext cx="592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1170360" y="109728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fc3f7"/>
                </a:solidFill>
                <a:latin typeface="Calibri"/>
                <a:ea typeface="DejaVu Sans"/>
              </a:rPr>
              <a:t>Objectif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70360" y="137160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Modérnisation , numérisation et centralisation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57200" y="1965960"/>
            <a:ext cx="3747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Créer une base de données unique et fiable, accessible à tous les services en temps réel, modérniser et numériser les activités au sein de la bibliothèque.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754880" y="960120"/>
            <a:ext cx="4159080" cy="1735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4754880" y="960120"/>
            <a:ext cx="4159080" cy="6264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4937760" y="1188720"/>
            <a:ext cx="592920" cy="592920"/>
          </a:xfrm>
          <a:prstGeom prst="ellipse">
            <a:avLst/>
          </a:prstGeom>
          <a:solidFill>
            <a:srgbClr val="22c55e">
              <a:alpha val="15000"/>
            </a:srgbClr>
          </a:solidFill>
          <a:ln w="12600">
            <a:solidFill>
              <a:srgbClr val="22c55e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4937760" y="1188720"/>
            <a:ext cx="592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5650920" y="109728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2c55e"/>
                </a:solidFill>
                <a:latin typeface="Calibri"/>
                <a:ea typeface="DejaVu Sans"/>
              </a:rPr>
              <a:t>Objectif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5650920" y="137160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Automatiser les processus / Faciliter le travail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4937760" y="1965960"/>
            <a:ext cx="3747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Réduire les tâches manuelles répétitives , envoie d’un email de rappel et notification automatisé.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274320" y="2926080"/>
            <a:ext cx="4159080" cy="1735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274320" y="2926080"/>
            <a:ext cx="4159080" cy="6264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457200" y="3154680"/>
            <a:ext cx="592920" cy="59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600">
            <a:solidFill>
              <a:srgbClr val="f59e0b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457200" y="3154680"/>
            <a:ext cx="592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1170360" y="306324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Objectif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1170360" y="333756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Eviter les pertes d’informations / erreurs de gestion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457200" y="3931920"/>
            <a:ext cx="3747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Grâçe à une base de données centraliser toutes les informations sont enregistrés et bien protégés.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4754880" y="2926080"/>
            <a:ext cx="4159080" cy="1735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4754880" y="2926080"/>
            <a:ext cx="4159080" cy="62640"/>
          </a:xfrm>
          <a:prstGeom prst="rect">
            <a:avLst/>
          </a:prstGeom>
          <a:solidFill>
            <a:srgbClr val="ef4444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4937760" y="3154680"/>
            <a:ext cx="592920" cy="592920"/>
          </a:xfrm>
          <a:prstGeom prst="ellipse">
            <a:avLst/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4937760" y="3154680"/>
            <a:ext cx="592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5650920" y="306324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f4444"/>
                </a:solidFill>
                <a:latin typeface="Calibri"/>
                <a:ea typeface="DejaVu Sans"/>
              </a:rPr>
              <a:t>Objectif 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5650920" y="333756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Sécuriser les accès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4937760" y="3931920"/>
            <a:ext cx="3747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  |  Architecture Technique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320040" y="960120"/>
            <a:ext cx="8502480" cy="684360"/>
          </a:xfrm>
          <a:prstGeom prst="rect">
            <a:avLst/>
          </a:prstGeom>
          <a:solidFill>
            <a:srgbClr val="4fc3f7">
              <a:alpha val="10000"/>
            </a:srgbClr>
          </a:solidFill>
          <a:ln w="12600">
            <a:solidFill>
              <a:srgbClr val="4fc3f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320040" y="960120"/>
            <a:ext cx="53280" cy="68436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02920" y="960120"/>
            <a:ext cx="2010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FRONTEND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2560320" y="960120"/>
            <a:ext cx="61250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HTML/CSS  •  JavaScript  •  Bootstrap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320040" y="1783080"/>
            <a:ext cx="8502480" cy="684360"/>
          </a:xfrm>
          <a:prstGeom prst="rect">
            <a:avLst/>
          </a:prstGeom>
          <a:solidFill>
            <a:srgbClr val="22c55e">
              <a:alpha val="10000"/>
            </a:srgbClr>
          </a:solidFill>
          <a:ln w="12600">
            <a:solidFill>
              <a:srgbClr val="22c55e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320040" y="1783080"/>
            <a:ext cx="53280" cy="68436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" name="Text 8"/>
          <p:cNvSpPr/>
          <p:nvPr/>
        </p:nvSpPr>
        <p:spPr>
          <a:xfrm>
            <a:off x="502920" y="1783080"/>
            <a:ext cx="2010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2c55e"/>
                </a:solidFill>
                <a:latin typeface="Calibri"/>
                <a:ea typeface="DejaVu Sans"/>
              </a:rPr>
              <a:t>BACKEND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2560320" y="1783080"/>
            <a:ext cx="61250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Django  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320040" y="2606040"/>
            <a:ext cx="8502480" cy="684360"/>
          </a:xfrm>
          <a:prstGeom prst="rect">
            <a:avLst/>
          </a:prstGeom>
          <a:solidFill>
            <a:srgbClr val="f59e0b">
              <a:alpha val="10000"/>
            </a:srgbClr>
          </a:solidFill>
          <a:ln w="126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320040" y="2606040"/>
            <a:ext cx="53280" cy="6843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02920" y="2606040"/>
            <a:ext cx="2010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BASE DE DONNÉES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2560320" y="2606040"/>
            <a:ext cx="61250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SQLite3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320040" y="3429000"/>
            <a:ext cx="8502480" cy="684360"/>
          </a:xfrm>
          <a:prstGeom prst="rect">
            <a:avLst/>
          </a:prstGeom>
          <a:solidFill>
            <a:srgbClr val="9333ea">
              <a:alpha val="10000"/>
            </a:srgbClr>
          </a:solidFill>
          <a:ln w="12600">
            <a:solidFill>
              <a:srgbClr val="9333e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320040" y="3429000"/>
            <a:ext cx="53280" cy="684360"/>
          </a:xfrm>
          <a:prstGeom prst="rect">
            <a:avLst/>
          </a:prstGeom>
          <a:solidFill>
            <a:srgbClr val="9333ea"/>
          </a:solidFill>
          <a:ln w="12600">
            <a:solidFill>
              <a:srgbClr val="933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502920" y="3429000"/>
            <a:ext cx="2010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9333ea"/>
                </a:solidFill>
                <a:latin typeface="Calibri"/>
                <a:ea typeface="DejaVu Sans"/>
              </a:rPr>
              <a:t>Modèle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2560320" y="3429000"/>
            <a:ext cx="61250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Modèle &lt;-----→ View &lt;----&gt;Template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77724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361188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644652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3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04  |  Démonstration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3"/>
          <p:cNvSpPr/>
          <p:nvPr/>
        </p:nvSpPr>
        <p:spPr>
          <a:xfrm>
            <a:off x="77724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Text 44"/>
          <p:cNvSpPr/>
          <p:nvPr/>
        </p:nvSpPr>
        <p:spPr>
          <a:xfrm>
            <a:off x="361188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Text 45"/>
          <p:cNvSpPr/>
          <p:nvPr/>
        </p:nvSpPr>
        <p:spPr>
          <a:xfrm>
            <a:off x="644652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732240" y="1600200"/>
            <a:ext cx="7717320" cy="247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5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05  |  Point fort et point faibles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7"/>
          <p:cNvSpPr/>
          <p:nvPr/>
        </p:nvSpPr>
        <p:spPr>
          <a:xfrm>
            <a:off x="77724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Text 38"/>
          <p:cNvSpPr/>
          <p:nvPr/>
        </p:nvSpPr>
        <p:spPr>
          <a:xfrm>
            <a:off x="361188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Text 39"/>
          <p:cNvSpPr/>
          <p:nvPr/>
        </p:nvSpPr>
        <p:spPr>
          <a:xfrm>
            <a:off x="644652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228600" y="914400"/>
            <a:ext cx="8457120" cy="18277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Gestion rapide et fiable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Centralisation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Suivi en temps réel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Evolutif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28600" y="2971800"/>
            <a:ext cx="8457120" cy="13705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Dépendance technique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Prise en main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2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365760" y="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06  |  Prochaîne étapes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77724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361188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Text 31"/>
          <p:cNvSpPr/>
          <p:nvPr/>
        </p:nvSpPr>
        <p:spPr>
          <a:xfrm>
            <a:off x="6446520" y="4343400"/>
            <a:ext cx="24674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228600" y="914400"/>
            <a:ext cx="8457120" cy="18277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Vision court terme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Améliorer l’interface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Ajout autres fonctionnalités (favoris, suivi des retards, …)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Offrir aux utilisateurs le contrôle total de leur compte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28600" y="2971800"/>
            <a:ext cx="8457120" cy="182772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Vision long terme: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Proposer des livres similaires quand un adhérent rend un livre qu'il a aimé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Recompenser les lecteurs qui a lu le plus  de livre à la fin de l'année scolaire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Recueillir les avis et suggestions des adhérents pour faire évoluer l'application selon leurs besoins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-914400" y="-914400"/>
            <a:ext cx="5484960" cy="5484960"/>
          </a:xfrm>
          <a:prstGeom prst="ellipse">
            <a:avLst/>
          </a:prstGeom>
          <a:solidFill>
            <a:srgbClr val="ffffff">
              <a:alpha val="7000"/>
            </a:srgbClr>
          </a:solidFill>
          <a:ln w="126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5486400" y="1828800"/>
            <a:ext cx="4570560" cy="45705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457200" y="822960"/>
            <a:ext cx="4570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CONCLUSION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457200" y="1188720"/>
            <a:ext cx="59421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Ce projet représente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une transformation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stratégique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457200" y="2926080"/>
            <a:ext cx="6399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Solution scalable et sécurisée adaptée à la croissance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457200" y="3291840"/>
            <a:ext cx="6399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Facilite la tâche des bibliothécaire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57200" y="3657600"/>
            <a:ext cx="6399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Rendre la consulation des livres faciles via la réservation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57200" y="4160520"/>
            <a:ext cx="2924640" cy="62028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57200" y="4160520"/>
            <a:ext cx="29246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Questions &amp; Discussion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2026-05-16T13:32:20Z</dcterms:created>
  <dc:creator>PptxGenJS</dc:creator>
  <dc:description/>
  <dc:language>en-US</dc:language>
  <cp:lastModifiedBy/>
  <dcterms:modified xsi:type="dcterms:W3CDTF">2026-05-20T04:59:27Z</dcterms:modified>
  <cp:revision>14</cp:revision>
  <dc:subject>PptxGenJS Presentation</dc:subject>
  <dc:title>Présentation Projet Informatique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